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3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USD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9C-417D-AD67-6476CBEE4DF2}"/>
              </c:ext>
            </c:extLst>
          </c:dPt>
          <c:dPt>
            <c:idx val="1"/>
            <c:invertIfNegative val="0"/>
            <c:bubble3D val="0"/>
            <c:spPr>
              <a:solidFill>
                <a:srgbClr val="F4A8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9C-417D-AD67-6476CBEE4DF2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9C-417D-AD67-6476CBEE4D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 (H1)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128500000</c:v>
                </c:pt>
                <c:pt idx="1">
                  <c:v>134700000</c:v>
                </c:pt>
                <c:pt idx="2">
                  <c:v>130495588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9C-417D-AD67-6476CBEE4D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4A9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9E-48D3-8F1D-8300A9198EB3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9E-48D3-8F1D-8300A9198EB3}"/>
              </c:ext>
            </c:extLst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9E-48D3-8F1D-8300A9198EB3}"/>
              </c:ext>
            </c:extLst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9E-48D3-8F1D-8300A9198EB3}"/>
              </c:ext>
            </c:extLst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9E-48D3-8F1D-8300A9198EB3}"/>
              </c:ext>
            </c:extLst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B9E-48D3-8F1D-8300A9198EB3}"/>
              </c:ext>
            </c:extLst>
          </c:dPt>
          <c:dPt>
            <c:idx val="6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B9E-48D3-8F1D-8300A9198EB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9E-48D3-8F1D-8300A9198EB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9E-48D3-8F1D-8300A9198EB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9E-48D3-8F1D-8300A9198EB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9E-48D3-8F1D-8300A9198EB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9E-48D3-8F1D-8300A9198EB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9E-48D3-8F1D-8300A9198EB3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9E-48D3-8F1D-8300A9198E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T-Shirts</c:v>
                </c:pt>
                <c:pt idx="1">
                  <c:v>Hoodies</c:v>
                </c:pt>
                <c:pt idx="2">
                  <c:v>Polo Shirts</c:v>
                </c:pt>
                <c:pt idx="3">
                  <c:v>Sweatshirts</c:v>
                </c:pt>
                <c:pt idx="4">
                  <c:v>Joggers</c:v>
                </c:pt>
                <c:pt idx="5">
                  <c:v>Shorts</c:v>
                </c:pt>
                <c:pt idx="6">
                  <c:v>Jackets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14.43</c:v>
                </c:pt>
                <c:pt idx="1">
                  <c:v>14.12</c:v>
                </c:pt>
                <c:pt idx="2">
                  <c:v>14.22</c:v>
                </c:pt>
                <c:pt idx="3">
                  <c:v>14</c:v>
                </c:pt>
                <c:pt idx="4">
                  <c:v>14.32</c:v>
                </c:pt>
                <c:pt idx="5">
                  <c:v>14.71</c:v>
                </c:pt>
                <c:pt idx="6">
                  <c:v>14.21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B9E-48D3-8F1D-8300A9198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</c:v>
                </c:pt>
              </c:strCache>
            </c:strRef>
          </c:tx>
          <c:spPr>
            <a:solidFill>
              <a:srgbClr val="F4A8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Decathlon</c:v>
                </c:pt>
                <c:pt idx="1">
                  <c:v>Zara</c:v>
                </c:pt>
                <c:pt idx="2">
                  <c:v>Carrefour</c:v>
                </c:pt>
                <c:pt idx="3">
                  <c:v>Tesco</c:v>
                </c:pt>
                <c:pt idx="4">
                  <c:v>Next</c:v>
                </c:pt>
                <c:pt idx="5">
                  <c:v>Target</c:v>
                </c:pt>
                <c:pt idx="6">
                  <c:v>George</c:v>
                </c:pt>
                <c:pt idx="7">
                  <c:v>C&amp;A</c:v>
                </c:pt>
                <c:pt idx="8">
                  <c:v>M&amp;S</c:v>
                </c:pt>
                <c:pt idx="9">
                  <c:v>Mango</c:v>
                </c:pt>
                <c:pt idx="10">
                  <c:v>H&amp;M</c:v>
                </c:pt>
                <c:pt idx="11">
                  <c:v>Primark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39885740</c:v>
                </c:pt>
                <c:pt idx="1">
                  <c:v>35608000</c:v>
                </c:pt>
                <c:pt idx="2">
                  <c:v>33532965</c:v>
                </c:pt>
                <c:pt idx="3">
                  <c:v>33010000</c:v>
                </c:pt>
                <c:pt idx="4">
                  <c:v>32990000</c:v>
                </c:pt>
                <c:pt idx="5">
                  <c:v>32760000</c:v>
                </c:pt>
                <c:pt idx="6">
                  <c:v>31773212</c:v>
                </c:pt>
                <c:pt idx="7">
                  <c:v>30359594</c:v>
                </c:pt>
                <c:pt idx="8">
                  <c:v>32770000</c:v>
                </c:pt>
                <c:pt idx="9">
                  <c:v>32610000</c:v>
                </c:pt>
                <c:pt idx="10">
                  <c:v>31190000</c:v>
                </c:pt>
                <c:pt idx="11">
                  <c:v>27210000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D1-4820-B71B-2EB06A23D3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USD</c:v>
                </c:pt>
              </c:strCache>
            </c:strRef>
          </c:tx>
          <c:spPr>
            <a:ln w="38100" cap="flat">
              <a:solidFill>
                <a:srgbClr val="F4A83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836"/>
              </a:solidFill>
              <a:ln w="9525" cap="flat">
                <a:solidFill>
                  <a:srgbClr val="F4A83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 (H1)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128500000</c:v>
                </c:pt>
                <c:pt idx="1">
                  <c:v>134700000</c:v>
                </c:pt>
                <c:pt idx="2">
                  <c:v>130495588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7D-4168-B0D7-74110570B4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4A9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Pieces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 (H1)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25200000</c:v>
                </c:pt>
                <c:pt idx="1">
                  <c:v>26100000</c:v>
                </c:pt>
                <c:pt idx="2">
                  <c:v>24900000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2-4E85-8188-D4A09CFDEC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4A9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Athletic Shorts</c:v>
                </c:pt>
                <c:pt idx="1">
                  <c:v>Pullover Hoodie</c:v>
                </c:pt>
                <c:pt idx="2">
                  <c:v>Performance Polo</c:v>
                </c:pt>
                <c:pt idx="3">
                  <c:v>Classic Polo</c:v>
                </c:pt>
                <c:pt idx="4">
                  <c:v>Crew Sweatshirt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32172724</c:v>
                </c:pt>
                <c:pt idx="1">
                  <c:v>31556259</c:v>
                </c:pt>
                <c:pt idx="2">
                  <c:v>29567501</c:v>
                </c:pt>
                <c:pt idx="3">
                  <c:v>29535389</c:v>
                </c:pt>
                <c:pt idx="4">
                  <c:v>29000000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B-4E7C-99E4-22F6F07238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FOB</c:v>
                </c:pt>
              </c:strCache>
            </c:strRef>
          </c:tx>
          <c:spPr>
            <a:solidFill>
              <a:srgbClr val="F4A8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Jackets</c:v>
                </c:pt>
                <c:pt idx="1">
                  <c:v>Hoodies</c:v>
                </c:pt>
                <c:pt idx="2">
                  <c:v>Sweatshirts</c:v>
                </c:pt>
                <c:pt idx="3">
                  <c:v>Joggers</c:v>
                </c:pt>
                <c:pt idx="4">
                  <c:v>Polo Shirts</c:v>
                </c:pt>
                <c:pt idx="5">
                  <c:v>Shorts</c:v>
                </c:pt>
                <c:pt idx="6">
                  <c:v>T-Shirts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7.1</c:v>
                </c:pt>
                <c:pt idx="1">
                  <c:v>6.5</c:v>
                </c:pt>
                <c:pt idx="2">
                  <c:v>5.8</c:v>
                </c:pt>
                <c:pt idx="3">
                  <c:v>5.5</c:v>
                </c:pt>
                <c:pt idx="4">
                  <c:v>5.0999999999999996</c:v>
                </c:pt>
                <c:pt idx="5">
                  <c:v>4.8</c:v>
                </c:pt>
                <c:pt idx="6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17-407C-A84E-26D44A8E93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A8-4573-A9A1-01D44FCFBBF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DA8-4573-A9A1-01D44FCFBBFA}"/>
              </c:ext>
            </c:extLst>
          </c:dPt>
          <c:dPt>
            <c:idx val="2"/>
            <c:invertIfNegative val="0"/>
            <c:bubble3D val="0"/>
            <c:spPr>
              <a:solidFill>
                <a:srgbClr val="F4A8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A8-4573-A9A1-01D44FCFBBFA}"/>
              </c:ext>
            </c:extLst>
          </c:dPt>
          <c:dPt>
            <c:idx val="3"/>
            <c:invertIfNegative val="0"/>
            <c:bubble3D val="0"/>
            <c:spPr>
              <a:solidFill>
                <a:srgbClr val="F4A8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A8-4573-A9A1-01D44FCFBBFA}"/>
              </c:ext>
            </c:extLst>
          </c:dPt>
          <c:dPt>
            <c:idx val="4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DA8-4573-A9A1-01D44FCFBBFA}"/>
              </c:ext>
            </c:extLst>
          </c:dPt>
          <c:dPt>
            <c:idx val="5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DA8-4573-A9A1-01D44FCFBB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 A</c:v>
                </c:pt>
                <c:pt idx="1">
                  <c:v>Unit B</c:v>
                </c:pt>
                <c:pt idx="2">
                  <c:v>Unit C</c:v>
                </c:pt>
                <c:pt idx="3">
                  <c:v>Unit D</c:v>
                </c:pt>
                <c:pt idx="4">
                  <c:v>Unit E</c:v>
                </c:pt>
                <c:pt idx="5">
                  <c:v>Unit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97.2</c:v>
                </c:pt>
                <c:pt idx="1">
                  <c:v>96.4</c:v>
                </c:pt>
                <c:pt idx="2">
                  <c:v>90.8</c:v>
                </c:pt>
                <c:pt idx="3">
                  <c:v>93.3</c:v>
                </c:pt>
                <c:pt idx="4">
                  <c:v>86.8</c:v>
                </c:pt>
                <c:pt idx="5">
                  <c:v>78.5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A8-4573-A9A1-01D44FCFBB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E4A9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920000</c:v>
                </c:pt>
                <c:pt idx="1">
                  <c:v>990000</c:v>
                </c:pt>
                <c:pt idx="2">
                  <c:v>930000</c:v>
                </c:pt>
                <c:pt idx="3">
                  <c:v>980000</c:v>
                </c:pt>
                <c:pt idx="4">
                  <c:v>960000</c:v>
                </c:pt>
                <c:pt idx="5">
                  <c:v>870000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75-47CB-913D-E2BD86EDB1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4A83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870000</c:v>
                </c:pt>
                <c:pt idx="1">
                  <c:v>910000</c:v>
                </c:pt>
                <c:pt idx="2">
                  <c:v>850000</c:v>
                </c:pt>
                <c:pt idx="3">
                  <c:v>890000</c:v>
                </c:pt>
                <c:pt idx="4">
                  <c:v>880000</c:v>
                </c:pt>
                <c:pt idx="5">
                  <c:v>780000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75-47CB-913D-E2BD86EDB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4A9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Late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C8-4115-BD3E-EA13A29FC6FD}"/>
              </c:ext>
            </c:extLst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C8-4115-BD3E-EA13A29FC6FD}"/>
              </c:ext>
            </c:extLst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C8-4115-BD3E-EA13A29FC6FD}"/>
              </c:ext>
            </c:extLst>
          </c:dPt>
          <c:dPt>
            <c:idx val="3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C8-4115-BD3E-EA13A29FC6FD}"/>
              </c:ext>
            </c:extLst>
          </c:dPt>
          <c:dPt>
            <c:idx val="4"/>
            <c:invertIfNegative val="0"/>
            <c:bubble3D val="0"/>
            <c:spPr>
              <a:solidFill>
                <a:srgbClr val="F4A8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5C8-4115-BD3E-EA13A29FC6FD}"/>
              </c:ext>
            </c:extLst>
          </c:dPt>
          <c:dPt>
            <c:idx val="5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5C8-4115-BD3E-EA13A29FC6F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 F</c:v>
                </c:pt>
                <c:pt idx="1">
                  <c:v>Unit E</c:v>
                </c:pt>
                <c:pt idx="2">
                  <c:v>Unit C</c:v>
                </c:pt>
                <c:pt idx="3">
                  <c:v>Unit D</c:v>
                </c:pt>
                <c:pt idx="4">
                  <c:v>Unit B</c:v>
                </c:pt>
                <c:pt idx="5">
                  <c:v>Unit 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5C8-4115-BD3E-EA13A29FC6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OTD%</c:v>
                </c:pt>
              </c:strCache>
            </c:strRef>
          </c:tx>
          <c:spPr>
            <a:solidFill>
              <a:srgbClr val="F4A8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Carrefour</c:v>
                </c:pt>
                <c:pt idx="1">
                  <c:v>Next</c:v>
                </c:pt>
                <c:pt idx="2">
                  <c:v>Tesco</c:v>
                </c:pt>
                <c:pt idx="3">
                  <c:v>Zara</c:v>
                </c:pt>
                <c:pt idx="4">
                  <c:v>M&amp;S</c:v>
                </c:pt>
                <c:pt idx="5">
                  <c:v>Decathlon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33.299999999999997</c:v>
                </c:pt>
                <c:pt idx="3">
                  <c:v>33.299999999999997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B-4A17-B7C8-A57D1FFBFD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88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scope: 3 years of purchase orders, 6 months of production data, 12 customers, 7 product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to audience that data was validated before analysis. All issues are minor and documented. Assumptions are transparent.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revenue across 3 years is $393.70M. Growth is visible YoY. Categories are fairly evenly distributed, suggesting no single category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Decathlon is the top customer by both volume and revenue. Customer concentration is a risk — recommend diversification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showed 4.8% growth over 2023. 2025 H1 is on track but data is partial. Full year projection would need extrapolation.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Athletic Shorts is the top revenue style. Jackets command the highest FOB. Recommend promoting high-FOB styles to improve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 is the weakest performer at 78.5%. Units A and B are top performers. June shows a dip — investigate root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OTD is critically low at 27.8%. Unit F is the main problem with 15 days average delay. Immediate corrective action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critical/high risks need immediate management attention. OTD and production gap are the most urgent. Customer concentration is a strategic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call to action. OTD fix is the most urgent. Dashboard is live and ready for monthly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097280"/>
          </a:xfrm>
          <a:prstGeom prst="rect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474720"/>
            <a:ext cx="1828800" cy="1828800"/>
          </a:xfrm>
          <a:prstGeom prst="ellipse">
            <a:avLst/>
          </a:prstGeom>
          <a:solidFill>
            <a:srgbClr val="2E4A9E">
              <a:alpha val="30000"/>
            </a:srgbClr>
          </a:solidFill>
          <a:ln w="12700">
            <a:solidFill>
              <a:srgbClr val="2E4A9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11887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CADCFC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500" dirty="0">
                <a:solidFill>
                  <a:srgbClr val="CADCFC"/>
                </a:solidFill>
              </a:rPr>
              <a:t>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56032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2E4A9E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36"/>
                </a:solidFill>
              </a:rPr>
              <a:t>$393.70M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Total Turnover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315468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2E4A9E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36"/>
                </a:solidFill>
              </a:rPr>
              <a:t>75M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3401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Pieces Ordered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374904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2E4A9E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36"/>
                </a:solidFill>
              </a:rPr>
              <a:t>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" y="3995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Active Customers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434340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2E4A9E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36"/>
                </a:solidFill>
              </a:rPr>
              <a:t>91.6%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Production Ach.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6400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Report</a:t>
            </a:r>
            <a:r>
              <a:rPr lang="ar-EG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Abdelmonem)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3474720" y="2331720"/>
            <a:ext cx="5303520" cy="36576"/>
          </a:xfrm>
          <a:prstGeom prst="rect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4688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</a:rPr>
              <a:t>Apparel Manufacturing — 3-Year Strategic Review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</a:rPr>
              <a:t>FY2023 · FY2024 · FY2025 (Jan–Jun)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389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by: عبدالمنعم سمير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ASSUMPTIONS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2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Purchase Orders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3,024 rows · 10 cols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6"/>
                </a:solidFill>
              </a:rPr>
              <a:t>2023–2025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Production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180 rows · 8 cols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6"/>
                </a:solidFill>
              </a:rPr>
              <a:t>Jan–Jun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PO Detail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9,091 rows · 10 cols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36"/>
                </a:solidFill>
              </a:rPr>
              <a:t>2023–2025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⚠  Issues Identified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146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6060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7320" y="257860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Turnover ≠ Pieces × FOB in 370 rows (max variance $7.19) — likely rounding. Turnover_USD used as source of truth.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44952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13639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310896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Style codes differ between Production (TS001) and PO sheets (TS101). Resolved via 2-letter prefix mapping.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575304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75304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66674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17320" y="36393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Column naming inconsistency between sheets (Product_Category vs Product Category). Standardised in Power Query.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105656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10565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19709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17320" y="41696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Production data covers Jan–Jun 2025 only. YoY comparisons for production metrics are not applicable.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3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836"/>
                </a:solidFill>
              </a:rPr>
              <a:t>$393.70M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Total Turnover (3Y)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1463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</a:rPr>
              <a:t>75M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Total Pieces Ordered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1463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3,024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1463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</a:rPr>
              <a:t>$5.25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Avg FOB per Piece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9601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463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</a:rPr>
              <a:t>12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Active Customers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Total Turnover by Year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74320" y="28346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75488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Turnover by Category</a:t>
            </a:r>
            <a:endParaRPr lang="en-US" sz="1200" dirty="0"/>
          </a:p>
        </p:txBody>
      </p:sp>
      <p:graphicFrame>
        <p:nvGraphicFramePr>
          <p:cNvPr id="28" name="Chart 1"/>
          <p:cNvGraphicFramePr/>
          <p:nvPr/>
        </p:nvGraphicFramePr>
        <p:xfrm>
          <a:off x="4754880" y="28346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4 of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Customers by Turnover (USD)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801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144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05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Decathlon leads with $39.9M — 10.1% of total revenue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20391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80760" y="20391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Top 3 customers (Decathlon, Zara, Carrefour) = 28% of revenue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9280" y="26609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6609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Primark has lowest turnover at $27.2M — monitor retention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0" y="32826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80760" y="32826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12 customers across Europe &amp; North America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0" y="39044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904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Customer concentration risk: losing 1 customer = ~8% revenue loss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YEAR-OVER-YEAR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5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2E4A9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2023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4A9E"/>
                </a:solidFill>
              </a:rPr>
              <a:t>$128.5M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F4A83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836"/>
                </a:solidFill>
              </a:rPr>
              <a:t>$134.7M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+4.8% YoY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2025*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</a:rPr>
              <a:t>$130.5M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H1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Turnover Trend 2023–2025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651760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48640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Pieces Ordered Trend</a:t>
            </a:r>
            <a:endParaRPr lang="en-US" sz="120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5486400" y="2651760"/>
          <a:ext cx="3383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* 2025 data covers January–June only. Full-year projection pending.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&amp; FOB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6 of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5 Styles by Revenue (USD)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8016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Avg FOB by Category (USD)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274320" y="3840480"/>
          <a:ext cx="50292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486400" y="9144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Style Metrics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0" y="14630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14996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Total Styles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60720" y="17190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15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21488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21854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Avg FOB (All)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760720" y="24048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36"/>
                </a:solidFill>
              </a:rPr>
              <a:t>$5.25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0" y="28346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28712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Highest FOB Style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760720" y="30906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Padded Jacket $7.28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0" y="35204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35570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Lowest FOB Style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760720" y="37764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</a:rPr>
              <a:t>Basic Tee $2.74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9280" y="42062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0" y="42428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Top Volume Style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760720" y="4462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Athletic Shorts 5.9M pcs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7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</a:rPr>
              <a:t>6M pcs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Planned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F4A83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836"/>
                </a:solidFill>
              </a:rPr>
              <a:t>5.5M pcs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Actual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</a:rPr>
              <a:t>91.6%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Achievement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</a:rPr>
              <a:t>487K pcs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Achievement % by Production Unit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37744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48640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Planned vs Actual by Month</a:t>
            </a:r>
            <a:endParaRPr lang="en-US" sz="120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5486400" y="2377440"/>
          <a:ext cx="33832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(OTD)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8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27.8%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OTD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🚨 Critical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9144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5.40 days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Avg Days Late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8745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3E3E"/>
                </a:solidFill>
              </a:rPr>
              <a:t>72.2%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Late Shipments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Industry Benchmark vs Actual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Target:  95%+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Actual:  27.8%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Gap:  67.2pp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Avg Days Late by Unit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3291840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48640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OTD % by Customer</a:t>
            </a:r>
            <a:endParaRPr lang="en-US" sz="12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5486400" y="3291840"/>
          <a:ext cx="33832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&amp; EARLY WARNING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9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966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 OTD Rate 27.8%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Far below 95% industry benchmark. Risk of customer penalties and order cancellations.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53E3E"/>
                </a:solidFill>
              </a:rPr>
              <a:t>→ Immediate: audit Unit F processes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682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🟠  Production Gap 487K pcs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8.37% of planned production not delivered. Revenue leakage risk.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97706"/>
                </a:solidFill>
              </a:rPr>
              <a:t>→ Root cause analysis per unit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7398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🟠  Customer Concentration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Top 3 customers = 28% of revenue. Loss of one = major revenue impact.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97706"/>
                </a:solidFill>
              </a:rPr>
              <a:t>→ Diversify customer portfolio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9601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9966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4632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 Unit F Performance 78.5%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Lowest achievement rate. Consistently underperforming vs peers.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AB308"/>
                </a:solidFill>
              </a:rPr>
              <a:t>→ Performance improvement plan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3317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3682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46320" y="2697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 Avg 5.4 Days Delay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Systemic delay across units. Affects customer satisfaction.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AB308"/>
                </a:solidFill>
              </a:rPr>
              <a:t>→ Review production scheduling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7033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03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739896"/>
            <a:ext cx="8778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4069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 Category Revenue Balance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343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All 7 categories contribute ~14% each. Good diversification.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4663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8A169"/>
                </a:solidFill>
              </a:rPr>
              <a:t>→ Maintain current mix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Slide 10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3E3E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10515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698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URGENT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OTD Immediately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Conduct root cause analysis for Unit F. Implement daily production tracking. Target: 95% OTD within 6 months.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55280" y="10515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0698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4068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Close Production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487K pieces shortfall needs investigation. Review capacity planning and shift scheduling. Target: 98% achievement.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24231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4414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STRATEGIC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6012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Diversify Customer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Reduce concentration risk by targeting 3–5 new customers. Focus on high-growth markets in Asia and Americas.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A169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55280" y="24231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24414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GROWTH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4068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Promote High-FOB Styles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Jackets and Hoodies yield higher margins. Shift product mix toward premium categories to improve profitability.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474720" y="37947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8130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PROCESS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Align Data Systems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Standardise Style codes across Production and Sales systems. Enables real-time cross-functional analysis.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7033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1B4B"/>
          </a:solidFill>
          <a:ln w="12700">
            <a:solidFill>
              <a:srgbClr val="F4A83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836"/>
                </a:solidFill>
              </a:rPr>
              <a:t>06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955280" y="37947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3813048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DONE 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4068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Live 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Power BI dashboard now in place. Schedule monthly review cadence with leadership and operations teams.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Performance Analysis</dc:title>
  <dc:subject>PptxGenJS Presentation</dc:subject>
  <dc:creator>Business Analyst</dc:creator>
  <cp:lastModifiedBy>abdelmonem samir</cp:lastModifiedBy>
  <cp:revision>2</cp:revision>
  <dcterms:created xsi:type="dcterms:W3CDTF">2026-06-17T23:10:51Z</dcterms:created>
  <dcterms:modified xsi:type="dcterms:W3CDTF">2026-06-17T23:19:59Z</dcterms:modified>
</cp:coreProperties>
</file>